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2" roundtripDataSignature="AMtx7mh4LHc/Tv6BgXxWhH7//WhTBQ2R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82f3bbe03a_0_233:notes"/>
          <p:cNvSpPr/>
          <p:nvPr>
            <p:ph idx="2" type="sldImg"/>
          </p:nvPr>
        </p:nvSpPr>
        <p:spPr>
          <a:xfrm>
            <a:off x="677867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182f3bbe03a_0_2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7dab28969a_0_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17dab28969a_0_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7dab28969a_0_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17dab28969a_0_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7dab28969a_0_1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17dab28969a_0_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7dab28969a_0_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17dab28969a_0_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2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2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6a2b111ac2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16a2b111ac2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6a2b111ac2_0_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16a2b111ac2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2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561657" y="605155"/>
            <a:ext cx="155765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561657" y="1629280"/>
            <a:ext cx="9929495" cy="382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561657" y="605155"/>
            <a:ext cx="155765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AUTOLAYOU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8275a94b7c_0_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18275a94b7c_0_28"/>
          <p:cNvSpPr txBox="1"/>
          <p:nvPr>
            <p:ph type="title"/>
          </p:nvPr>
        </p:nvSpPr>
        <p:spPr>
          <a:xfrm>
            <a:off x="415600" y="3387267"/>
            <a:ext cx="41595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g18275a94b7c_0_28"/>
          <p:cNvSpPr txBox="1"/>
          <p:nvPr>
            <p:ph idx="1" type="body"/>
          </p:nvPr>
        </p:nvSpPr>
        <p:spPr>
          <a:xfrm>
            <a:off x="4705600" y="3387333"/>
            <a:ext cx="70605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g18275a94b7c_0_28"/>
          <p:cNvSpPr txBox="1"/>
          <p:nvPr>
            <p:ph idx="12" type="sldNum"/>
          </p:nvPr>
        </p:nvSpPr>
        <p:spPr>
          <a:xfrm>
            <a:off x="11296610" y="6217622"/>
            <a:ext cx="73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/>
          <p:nvPr>
            <p:ph type="title"/>
          </p:nvPr>
        </p:nvSpPr>
        <p:spPr>
          <a:xfrm>
            <a:off x="561657" y="605155"/>
            <a:ext cx="155765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2" type="body"/>
          </p:nvPr>
        </p:nvSpPr>
        <p:spPr>
          <a:xfrm>
            <a:off x="6311010" y="1643316"/>
            <a:ext cx="5300345" cy="41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82f3bbe03a_0_31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g182f3bbe03a_0_31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9" name="Google Shape;39;g182f3bbe03a_0_3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182f3bbe03a_0_3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g182f3bbe03a_0_315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182f3bbe03a_0_315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182f3bbe03a_0_315"/>
          <p:cNvSpPr txBox="1"/>
          <p:nvPr>
            <p:ph idx="12" type="sldNum"/>
          </p:nvPr>
        </p:nvSpPr>
        <p:spPr>
          <a:xfrm>
            <a:off x="11381736" y="6333134"/>
            <a:ext cx="73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AUTOLAYOUT_3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82f3bbe03a_0_3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182f3bbe03a_0_355"/>
          <p:cNvSpPr txBox="1"/>
          <p:nvPr>
            <p:ph type="title"/>
          </p:nvPr>
        </p:nvSpPr>
        <p:spPr>
          <a:xfrm>
            <a:off x="452767" y="1135867"/>
            <a:ext cx="6341700" cy="45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182f3bbe03a_0_355"/>
          <p:cNvSpPr txBox="1"/>
          <p:nvPr>
            <p:ph idx="12" type="sldNum"/>
          </p:nvPr>
        </p:nvSpPr>
        <p:spPr>
          <a:xfrm>
            <a:off x="11296610" y="6217622"/>
            <a:ext cx="73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AUTOLAYOUT_2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82f3bbe03a_0_3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182f3bbe03a_0_349"/>
          <p:cNvSpPr/>
          <p:nvPr/>
        </p:nvSpPr>
        <p:spPr>
          <a:xfrm>
            <a:off x="599014" y="708200"/>
            <a:ext cx="850800" cy="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182f3bbe03a_0_349"/>
          <p:cNvSpPr txBox="1"/>
          <p:nvPr>
            <p:ph type="ctrTitle"/>
          </p:nvPr>
        </p:nvSpPr>
        <p:spPr>
          <a:xfrm>
            <a:off x="431067" y="1030467"/>
            <a:ext cx="3605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" name="Google Shape;52;g182f3bbe03a_0_349"/>
          <p:cNvSpPr txBox="1"/>
          <p:nvPr>
            <p:ph idx="12" type="sldNum"/>
          </p:nvPr>
        </p:nvSpPr>
        <p:spPr>
          <a:xfrm>
            <a:off x="11296610" y="6217622"/>
            <a:ext cx="73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/>
          <p:nvPr/>
        </p:nvSpPr>
        <p:spPr>
          <a:xfrm>
            <a:off x="490537" y="490601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413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0"/>
          <p:cNvSpPr/>
          <p:nvPr/>
        </p:nvSpPr>
        <p:spPr>
          <a:xfrm>
            <a:off x="490537" y="6376987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4131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30"/>
          <p:cNvSpPr txBox="1"/>
          <p:nvPr>
            <p:ph type="title"/>
          </p:nvPr>
        </p:nvSpPr>
        <p:spPr>
          <a:xfrm>
            <a:off x="561657" y="605155"/>
            <a:ext cx="155765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9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" type="body"/>
          </p:nvPr>
        </p:nvSpPr>
        <p:spPr>
          <a:xfrm>
            <a:off x="561657" y="1629280"/>
            <a:ext cx="9929495" cy="382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2f3bbe03a_0_233"/>
          <p:cNvSpPr txBox="1"/>
          <p:nvPr>
            <p:ph type="ctrTitle"/>
          </p:nvPr>
        </p:nvSpPr>
        <p:spPr>
          <a:xfrm>
            <a:off x="972600" y="1763267"/>
            <a:ext cx="10250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US" sz="4300"/>
              <a:t>Trackbars</a:t>
            </a:r>
            <a:endParaRPr sz="4300"/>
          </a:p>
        </p:txBody>
      </p:sp>
      <p:sp>
        <p:nvSpPr>
          <p:cNvPr id="68" name="Google Shape;68;g182f3bbe03a_0_233"/>
          <p:cNvSpPr txBox="1"/>
          <p:nvPr>
            <p:ph idx="1" type="subTitle"/>
          </p:nvPr>
        </p:nvSpPr>
        <p:spPr>
          <a:xfrm>
            <a:off x="972600" y="2538900"/>
            <a:ext cx="10520700" cy="3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Trackbar is a GUI element that let the user to select a specific value within a range of values by sliding a slider linearly. It’s similar to scrolling but it limits the user to select a specific value with its minimum and maximum limits.</a:t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a trackbar</a:t>
            </a:r>
            <a:endParaRPr b="1"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cv2.createTrackbar( trackbarname, winname, ,value, count, onChange )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Reading the position of trackbar</a:t>
            </a:r>
            <a:endParaRPr b="1"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cv2.getTrackbarPos( trackbarname, winname )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561646" y="605150"/>
            <a:ext cx="63816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Cropping an image</a:t>
            </a:r>
            <a:endParaRPr/>
          </a:p>
        </p:txBody>
      </p:sp>
      <p:sp>
        <p:nvSpPr>
          <p:cNvPr id="74" name="Google Shape;74;p19"/>
          <p:cNvSpPr/>
          <p:nvPr/>
        </p:nvSpPr>
        <p:spPr>
          <a:xfrm>
            <a:off x="6657975" y="1876425"/>
            <a:ext cx="4286400" cy="2676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9"/>
          <p:cNvSpPr txBox="1"/>
          <p:nvPr/>
        </p:nvSpPr>
        <p:spPr>
          <a:xfrm>
            <a:off x="686752" y="1688147"/>
            <a:ext cx="4989900" cy="4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import cv2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import numpy as np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93495" rtl="0" algn="l">
              <a:lnSpc>
                <a:spcPct val="121111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img = cv2.imread('test.jpeg')  print(img.shape) # Print image shape  cv2.imshow("original", img)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 Cropping an image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cropped_image = img[50:150, 50:200]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069975" rtl="0" algn="l">
              <a:lnSpc>
                <a:spcPct val="1008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 Display cropped image  cv2.imshow("cropped", cropped_image)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 Save the cropped image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21111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cv2.imwrite("Cropped Image.jpg", cropped_image)  cv2.waitKey(0)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cv2.destroyAllWindows()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7dab28969a_0_2"/>
          <p:cNvSpPr txBox="1"/>
          <p:nvPr>
            <p:ph type="title"/>
          </p:nvPr>
        </p:nvSpPr>
        <p:spPr>
          <a:xfrm>
            <a:off x="3605900" y="659575"/>
            <a:ext cx="4680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Trackbar</a:t>
            </a:r>
            <a:endParaRPr/>
          </a:p>
        </p:txBody>
      </p:sp>
      <p:sp>
        <p:nvSpPr>
          <p:cNvPr id="81" name="Google Shape;81;g17dab28969a_0_2"/>
          <p:cNvSpPr txBox="1"/>
          <p:nvPr/>
        </p:nvSpPr>
        <p:spPr>
          <a:xfrm>
            <a:off x="244925" y="1592025"/>
            <a:ext cx="115389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Trackbar is a </a:t>
            </a:r>
            <a:r>
              <a:rPr b="1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GUI element</a:t>
            </a:r>
            <a:r>
              <a:rPr b="0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that let the user </a:t>
            </a:r>
            <a:r>
              <a:rPr b="1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select a specific value within a range of values by sliding a slider linearly</a:t>
            </a:r>
            <a:r>
              <a:rPr b="0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It’s similar to scrolling but it limits the user to select a specific value with its minimum and maximum limits.</a:t>
            </a:r>
            <a:endParaRPr b="0" i="0" sz="20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Why we use Trackbar?</a:t>
            </a:r>
            <a:endParaRPr b="0" i="0" sz="20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There are times when you </a:t>
            </a:r>
            <a:r>
              <a:rPr b="1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want to run the program with different value or parameter and experiment to find the optimum value</a:t>
            </a: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 figure out the best parameter value.</a:t>
            </a:r>
            <a:endParaRPr b="0" i="0" sz="16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Editing the variable value in source code and </a:t>
            </a:r>
            <a:r>
              <a:rPr b="1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running the program, again and again, can be tedious, </a:t>
            </a: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instead, you can </a:t>
            </a:r>
            <a:r>
              <a:rPr b="1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bind trackbars to the output image window.</a:t>
            </a:r>
            <a:endParaRPr b="1" i="0" sz="16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These trackbars will either </a:t>
            </a:r>
            <a:r>
              <a:rPr b="1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call a function</a:t>
            </a:r>
            <a:r>
              <a:rPr b="0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1600" u="none" cap="none" strike="noStrike">
                <a:solidFill>
                  <a:srgbClr val="4C4F5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update variable value based on slider position</a:t>
            </a:r>
            <a:endParaRPr b="1" i="0" sz="16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C4F5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7dab28969a_0_9"/>
          <p:cNvSpPr txBox="1"/>
          <p:nvPr>
            <p:ph type="title"/>
          </p:nvPr>
        </p:nvSpPr>
        <p:spPr>
          <a:xfrm>
            <a:off x="561657" y="605155"/>
            <a:ext cx="1557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7" name="Google Shape;87;g17dab28969a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25" y="605150"/>
            <a:ext cx="499382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17dab28969a_0_9"/>
          <p:cNvSpPr txBox="1"/>
          <p:nvPr/>
        </p:nvSpPr>
        <p:spPr>
          <a:xfrm>
            <a:off x="6164050" y="605150"/>
            <a:ext cx="5551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cv2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numpy as np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emptyFunction():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pass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 main():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blackwindow having 3 color chanels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image = np.zeros((512, 512, 3), np.uint8)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windowName ="Open CV Color Palette"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window name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cv2.namedWindow(windowName)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there trackbars which have the name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of trackbars min and max value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cv2.createTrackbar('Blue', windowName, 0, 255, emptyFunction)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cv2.createTrackbar('Green', windowName, 0, 255, emptyFunction)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cv2.createTrackbar('Red', windowName, 0, 255, emptyFunction)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Google Shape;89;g17dab28969a_0_9"/>
          <p:cNvSpPr txBox="1"/>
          <p:nvPr/>
        </p:nvSpPr>
        <p:spPr>
          <a:xfrm>
            <a:off x="700400" y="2932900"/>
            <a:ext cx="4810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Used to open the window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# till press the ESC key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while(True):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cv2.imshow(windowName, image)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if cv2.waitKey(1) == 27: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break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# values of blue, green, red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blue = cv2.getTrackbarPos('Blue', windowName)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green = cv2.getTrackbarPos('Green', windowName)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red = cv2.getTrackbarPos('Red', windowName)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# merge all three color chanels and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# make the image composites image from rgb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image[:] = [blue, green, red]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print(blue, green, red)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cv2.destroyAllWindows()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7323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100" u="none" cap="none" strike="noStrike">
              <a:solidFill>
                <a:srgbClr val="27323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7dab28969a_0_17"/>
          <p:cNvSpPr txBox="1"/>
          <p:nvPr>
            <p:ph type="title"/>
          </p:nvPr>
        </p:nvSpPr>
        <p:spPr>
          <a:xfrm>
            <a:off x="1208100" y="694325"/>
            <a:ext cx="9775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50"/>
              <a:t>Example</a:t>
            </a:r>
            <a:r>
              <a:rPr lang="en-US" sz="1950"/>
              <a:t>-</a:t>
            </a:r>
            <a:r>
              <a:rPr lang="en-US" sz="1300">
                <a:solidFill>
                  <a:srgbClr val="1B1E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FIND THE HSV COLOR VALUE FOR DETECTING ANY COLOR USING TRACKBAR IN OPENCV</a:t>
            </a:r>
            <a:r>
              <a:rPr lang="en-US" sz="2850"/>
              <a:t> </a:t>
            </a:r>
            <a:endParaRPr sz="2850"/>
          </a:p>
        </p:txBody>
      </p:sp>
      <p:sp>
        <p:nvSpPr>
          <p:cNvPr id="95" name="Google Shape;95;g17dab28969a_0_17"/>
          <p:cNvSpPr txBox="1"/>
          <p:nvPr/>
        </p:nvSpPr>
        <p:spPr>
          <a:xfrm>
            <a:off x="0" y="1286225"/>
            <a:ext cx="5501100" cy="5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import cv2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def nothing(x):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pass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 __name__ == '__main__':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cap = cv2.VideoCapture(1)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cv2.namedWindow("HSV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cv2.createTrackbar("H MIN", "HSV Value", 0, 179,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cv2.createTrackbar("S MIN", "HSV Value", 0, 255,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cv2.createTrackbar("V MIN", "HSV Value", 0, 255,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cv2.createTrackbar("H MAX", "HSV Value", 179, 179,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cv2.createTrackbar("S MAX", "HSV Value", 255, 255,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cv2.createTrackbar("V MAX", "HSV Value", 255, 255, nothing)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while True: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_, frame = cap.read()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hsv = cv2.cvtColor(frame, cv2.COLOR_BGR2HSV)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h_min = cv2.getTrackbarPos("H MIN",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s_min = cv2.getTrackbarPos("S MIN",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v_min = cv2.getTrackbarPos("V MIN",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h_max = cv2.getTrackbarPos("H MAX",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s_max = cv2.getTrackbarPos("S MAX",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v_max = cv2.getTrackbarPos("V MAX", "HSV Value")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g17dab28969a_0_17"/>
          <p:cNvSpPr txBox="1"/>
          <p:nvPr/>
        </p:nvSpPr>
        <p:spPr>
          <a:xfrm>
            <a:off x="5924125" y="1227850"/>
            <a:ext cx="58365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lower_blue = np.array([h_min, s_min, v_min])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upper_blue = np.array([h_max, s_max, v_max])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hsv_min="MIN H:{} S:{} V:{}".format(h_min,s_min,v_min)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hsv_max = "MAX H:{} S:{} V:{}".format(h_max, s_max, v_max)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mask = cv2.inRange(hsv, lower_blue, upper_blue)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result = cv2.bitwise_and(frame, frame, mask=mask)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cv2.putText(frame, hsv_min, (10, 30), cv2.FONT_HERSHEY_SIMPLEX, 1, (0, 0, 255), 2)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cv2.putText(frame, hsv_max, (10, 80), cv2.FONT_HERSHEY_SIMPLEX, 1, (0, 0, 255), 2)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cv2.imshow("HSV Value", frame)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cv2.imshow("Mask", mask)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cv2.imshow("Frame Mask", result)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key = cv2.waitKey(1)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if key == 27: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break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cap.release()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35714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D1D1D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cv2.destroyAllWindows()</a:t>
            </a:r>
            <a:endParaRPr b="0" i="0" sz="1050" u="none" cap="none" strike="noStrike">
              <a:solidFill>
                <a:srgbClr val="1D1D1D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" name="Google Shape;97;g17dab28969a_0_17"/>
          <p:cNvSpPr txBox="1"/>
          <p:nvPr/>
        </p:nvSpPr>
        <p:spPr>
          <a:xfrm>
            <a:off x="7631350" y="3764600"/>
            <a:ext cx="53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7dab28969a_0_25"/>
          <p:cNvSpPr txBox="1"/>
          <p:nvPr>
            <p:ph type="title"/>
          </p:nvPr>
        </p:nvSpPr>
        <p:spPr>
          <a:xfrm>
            <a:off x="561654" y="605150"/>
            <a:ext cx="5158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103" name="Google Shape;103;g17dab28969a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232" y="1938338"/>
            <a:ext cx="61531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561646" y="605150"/>
            <a:ext cx="54201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Trackbars</a:t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476250" y="1466850"/>
            <a:ext cx="5181600" cy="472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5981700" y="1790700"/>
            <a:ext cx="5791200" cy="381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561650" y="1399150"/>
            <a:ext cx="42900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600"/>
              <a:t>Contours-</a:t>
            </a:r>
            <a:endParaRPr sz="6600"/>
          </a:p>
        </p:txBody>
      </p:sp>
      <p:sp>
        <p:nvSpPr>
          <p:cNvPr id="116" name="Google Shape;116;p23"/>
          <p:cNvSpPr/>
          <p:nvPr/>
        </p:nvSpPr>
        <p:spPr>
          <a:xfrm>
            <a:off x="490537" y="490601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561657" y="3062287"/>
            <a:ext cx="3780790" cy="229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Curve joining all the  continuous points (along the  boundary), having same colour  or intensity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535" lvl="0" marL="355600" marR="33655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contours are a useful tool  for shape analysis and object  detection and recognition.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5038725" y="2028825"/>
            <a:ext cx="6591300" cy="2800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490537" y="6376987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561646" y="518800"/>
            <a:ext cx="55425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Some tips &amp; tricks</a:t>
            </a:r>
            <a:endParaRPr sz="3600"/>
          </a:p>
        </p:txBody>
      </p:sp>
      <p:sp>
        <p:nvSpPr>
          <p:cNvPr id="125" name="Google Shape;125;p24"/>
          <p:cNvSpPr/>
          <p:nvPr/>
        </p:nvSpPr>
        <p:spPr>
          <a:xfrm>
            <a:off x="490537" y="490601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/>
          <p:nvPr/>
        </p:nvSpPr>
        <p:spPr>
          <a:xfrm>
            <a:off x="587692" y="1166177"/>
            <a:ext cx="51582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343535" lvl="0" marL="355600" marR="129539" rtl="0" algn="l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"/>
              <a:buChar char="⮚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better accuracy, use binary  images. So before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ﬁ</a:t>
            </a:r>
            <a:r>
              <a:rPr b="0" i="0" lang="en-US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nding contours,  apply threshold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185" lvl="0" marL="355600" marR="5080" rtl="0" algn="l">
              <a:lnSpc>
                <a:spcPct val="90600"/>
              </a:lnSpc>
              <a:spcBef>
                <a:spcPts val="925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"/>
              <a:buChar char="⮚"/>
            </a:pPr>
            <a:r>
              <a:rPr b="0" i="0" lang="en-US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Finding contours is like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ﬁ</a:t>
            </a:r>
            <a:r>
              <a:rPr b="0" i="0" lang="en-US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nding  white object from black  background. So remember, object to  be found should be white and  background should be black.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185" lvl="0" marL="355600" marR="6985" rtl="0" algn="l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"/>
              <a:buChar char="⮚"/>
            </a:pPr>
            <a:r>
              <a:rPr b="0" i="0" lang="en-US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Threshing is important because  contour detection algorithm works  on finding the pixels of same value,  and draw boundary around it, which  is easily done on binary image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5885879" y="694181"/>
            <a:ext cx="4878512" cy="53033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490537" y="6376987"/>
            <a:ext cx="11147425" cy="0"/>
          </a:xfrm>
          <a:custGeom>
            <a:rect b="b" l="l" r="r" t="t"/>
            <a:pathLst>
              <a:path extrusionOk="0" h="120000" w="11147425">
                <a:moveTo>
                  <a:pt x="0" y="0"/>
                </a:moveTo>
                <a:lnTo>
                  <a:pt x="11147107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561647" y="605150"/>
            <a:ext cx="2247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CODE:</a:t>
            </a:r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622482" y="1229744"/>
            <a:ext cx="8597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import cv2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import numpy as np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4831715" rtl="0" algn="l">
              <a:lnSpc>
                <a:spcPct val="165333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img = cv2.imread("Documents/contour.jpeg")  dim=(400,400)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img=cv2.resize(img,dim)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img_gray=cv2.cvtColor(img,cv2.COLOR_BGR2GRAY)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ret,thresh = cv2.threshold(img_gray,127,255,cv2.THRESH_BINARY)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3366770" rtl="0" algn="l">
              <a:lnSpc>
                <a:spcPct val="1335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contours,hierarchy = cv2.findContours(thresh,cv2.RETR_TREE,  cv2.CHAIN_APPROX_NONE)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4706620" rtl="0" algn="l">
              <a:lnSpc>
                <a:spcPct val="1335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cv2.drawContours(img,contours,-1,(255,0,0),1)  cv2.imshow("window",img)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cv2.waitKey(0)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7820025" y="619125"/>
            <a:ext cx="3800475" cy="43338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5744175" y="5178350"/>
            <a:ext cx="61164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l">
              <a:lnSpc>
                <a:spcPct val="100800"/>
              </a:lnSpc>
              <a:spcBef>
                <a:spcPts val="12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(source image, contour retrieval mode, contour  approximation method)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1167350" y="5839900"/>
            <a:ext cx="70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(source image, contour array, contour select ID,color,width)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25"/>
          <p:cNvSpPr/>
          <p:nvPr/>
        </p:nvSpPr>
        <p:spPr>
          <a:xfrm rot="5400000">
            <a:off x="4450425" y="5165450"/>
            <a:ext cx="753900" cy="462000"/>
          </a:xfrm>
          <a:prstGeom prst="bentArrow">
            <a:avLst>
              <a:gd fmla="val 0" name="adj1"/>
              <a:gd fmla="val 24480" name="adj2"/>
              <a:gd fmla="val 27082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 rot="5400000">
            <a:off x="5241150" y="4256225"/>
            <a:ext cx="753900" cy="1252500"/>
          </a:xfrm>
          <a:prstGeom prst="bentArrow">
            <a:avLst>
              <a:gd fmla="val 0" name="adj1"/>
              <a:gd fmla="val 24480" name="adj2"/>
              <a:gd fmla="val 27082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476250" y="485775"/>
            <a:ext cx="11153775" cy="1476375"/>
          </a:xfrm>
          <a:custGeom>
            <a:rect b="b" l="l" r="r" t="t"/>
            <a:pathLst>
              <a:path extrusionOk="0" h="1476375" w="11153775">
                <a:moveTo>
                  <a:pt x="11153775" y="0"/>
                </a:moveTo>
                <a:lnTo>
                  <a:pt x="0" y="0"/>
                </a:lnTo>
                <a:lnTo>
                  <a:pt x="0" y="1476375"/>
                </a:lnTo>
                <a:lnTo>
                  <a:pt x="11153775" y="1476375"/>
                </a:lnTo>
                <a:lnTo>
                  <a:pt x="11153775" y="0"/>
                </a:lnTo>
                <a:close/>
              </a:path>
            </a:pathLst>
          </a:custGeom>
          <a:solidFill>
            <a:srgbClr val="CF4641">
              <a:alpha val="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561647" y="663575"/>
            <a:ext cx="95064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600"/>
              <a:t>Contour Hierarchy</a:t>
            </a:r>
            <a:endParaRPr sz="6600"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476250" y="490601"/>
            <a:ext cx="11161712" cy="5886450"/>
            <a:chOff x="476250" y="490601"/>
            <a:chExt cx="11161712" cy="5886450"/>
          </a:xfrm>
        </p:grpSpPr>
        <p:sp>
          <p:nvSpPr>
            <p:cNvPr id="147" name="Google Shape;147;p26"/>
            <p:cNvSpPr/>
            <p:nvPr/>
          </p:nvSpPr>
          <p:spPr>
            <a:xfrm>
              <a:off x="490537" y="490601"/>
              <a:ext cx="11147425" cy="0"/>
            </a:xfrm>
            <a:custGeom>
              <a:rect b="b" l="l" r="r" t="t"/>
              <a:pathLst>
                <a:path extrusionOk="0" h="120000" w="11147425">
                  <a:moveTo>
                    <a:pt x="0" y="0"/>
                  </a:moveTo>
                  <a:lnTo>
                    <a:pt x="11147107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476250" y="1990725"/>
              <a:ext cx="5514975" cy="4381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90537" y="1995551"/>
              <a:ext cx="11147425" cy="4381500"/>
            </a:xfrm>
            <a:custGeom>
              <a:rect b="b" l="l" r="r" t="t"/>
              <a:pathLst>
                <a:path extrusionOk="0" h="4381500" w="11147425">
                  <a:moveTo>
                    <a:pt x="0" y="0"/>
                  </a:moveTo>
                  <a:lnTo>
                    <a:pt x="11147107" y="0"/>
                  </a:lnTo>
                </a:path>
                <a:path extrusionOk="0" h="4381500" w="11147425">
                  <a:moveTo>
                    <a:pt x="0" y="4381436"/>
                  </a:moveTo>
                  <a:lnTo>
                    <a:pt x="11147107" y="4381436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26"/>
          <p:cNvSpPr txBox="1"/>
          <p:nvPr/>
        </p:nvSpPr>
        <p:spPr>
          <a:xfrm>
            <a:off x="6270371" y="2298001"/>
            <a:ext cx="52101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508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Hierarchies denote the parent-child relationship  between contours. You will see how each contour-  retrieval mode affects contour detection in images, and  produces hierarchical results.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17780" rtl="0" algn="l">
              <a:lnSpc>
                <a:spcPct val="90200"/>
              </a:lnSpc>
              <a:spcBef>
                <a:spcPts val="101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All the individual numbers, i.e., 1, 2, 3, and 4 are  separate objects, according to the contour hierarchy  and parent-child relationship.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209550" rtl="0" algn="l">
              <a:lnSpc>
                <a:spcPct val="105882"/>
              </a:lnSpc>
              <a:spcBef>
                <a:spcPts val="107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 can say that the 3a is a child of 3. Note that 3a  represents the interior portion of contour 3.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53975" rtl="0" algn="l">
              <a:lnSpc>
                <a:spcPct val="90800"/>
              </a:lnSpc>
              <a:spcBef>
                <a:spcPts val="98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Contours 1, 2, and 4 are all parent shapes, without  any associated child, and their numbering is thus  arbitrary. In other words, contour 2 could have been  labeled as 1 and vice-versa.</a:t>
            </a:r>
            <a:endParaRPr b="0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561644" y="605150"/>
            <a:ext cx="72084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Hierarchy Format: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561657" y="1177099"/>
            <a:ext cx="111327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[Next, Previous, First_Child, Parent]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Next: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Denotes the next contour in an image, which is at the same hierarchical level. So,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contour 1, the next contour at the same hierarchical level is 2. Here,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will be 2.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5080" rtl="0" algn="l">
              <a:lnSpc>
                <a:spcPct val="97297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Accordingly, contour 3 has no contour at the same hierarchical level as itself. So, it’s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value will be -  1.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25780" rtl="0" algn="l">
              <a:lnSpc>
                <a:spcPct val="97297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Previous: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Denotes the previous contour at the same hierarchical level. This means that contour 1 will  always have its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value as -1.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First_Child: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Denotes the first child contour of the contour we are currently considering.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Contours 1 and 2 have no children at all. So, the index values for their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First_Child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will be -1.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190500" rtl="0" algn="l">
              <a:lnSpc>
                <a:spcPct val="101621"/>
              </a:lnSpc>
              <a:spcBef>
                <a:spcPts val="90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But contour 3 has a child. So, for contour 3, the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First_Child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position value will be the index position of  3a.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Parent: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Denotes the parent contour’s index position for the current contour.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Contours 1 and 2, as is obvious, do not have any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contour.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the contour 3a, its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going to be contour 3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0035" lvl="0" marL="2984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contour 4, the parent is contour 3a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561648" y="605150"/>
            <a:ext cx="111966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Different Contour Retrieval Techniques</a:t>
            </a:r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541957" y="1996797"/>
            <a:ext cx="111081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266065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RETR_EXTERNAL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 retrieval method only detects the parent contours, and  ignores any child contours. So, all the inner contours like 3a and 4 will not have any points  drawn on them.</a:t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66065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66065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19709" rtl="0" algn="l">
              <a:lnSpc>
                <a:spcPct val="102899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RETR_LIST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contour retrieval method does not create any parent child relationship  between the extracted contours. So, for all the contour areas that are detected, the 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First_Child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index position values are always –1, but the child contours are still  stored independently, unlike RETR_EXTERNAL.</a:t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5080" rtl="0" algn="l">
              <a:lnSpc>
                <a:spcPct val="103299"/>
              </a:lnSpc>
              <a:spcBef>
                <a:spcPts val="94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6a2b111ac2_0_0"/>
          <p:cNvSpPr txBox="1"/>
          <p:nvPr>
            <p:ph idx="1" type="body"/>
          </p:nvPr>
        </p:nvSpPr>
        <p:spPr>
          <a:xfrm>
            <a:off x="1131300" y="612750"/>
            <a:ext cx="99294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317500" rtl="0" algn="l">
              <a:lnSpc>
                <a:spcPct val="103299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950">
                <a:latin typeface="Arial"/>
                <a:ea typeface="Arial"/>
                <a:cs typeface="Arial"/>
                <a:sym typeface="Arial"/>
              </a:rPr>
              <a:t>RETR_CCOMP </a:t>
            </a:r>
            <a:r>
              <a:rPr lang="en-US" sz="1950"/>
              <a:t>retrieves all the contours in an image. Along with that, it also applies a 2-  level hierarchy to all the shapes or objects in the image. All the outer contours will have  hierarchy level 1 and all the inner contours will have hierarchy level 2</a:t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68" name="Google Shape;168;g16a2b111ac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4762" y="1664400"/>
            <a:ext cx="6802476" cy="4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6a2b111ac2_0_5"/>
          <p:cNvSpPr txBox="1"/>
          <p:nvPr>
            <p:ph idx="1" type="body"/>
          </p:nvPr>
        </p:nvSpPr>
        <p:spPr>
          <a:xfrm>
            <a:off x="1131307" y="674530"/>
            <a:ext cx="99294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3299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950">
                <a:latin typeface="Arial"/>
                <a:ea typeface="Arial"/>
                <a:cs typeface="Arial"/>
                <a:sym typeface="Arial"/>
              </a:rPr>
              <a:t>RETR_TREE </a:t>
            </a:r>
            <a:r>
              <a:rPr lang="en-US" sz="1950"/>
              <a:t>also retrieves all the contours. It also creates a complete hierarchy, with the  levels not restricted to 1 or 2. Each contour can have its own hierarchy, in line with the level  it is on, and the corresponding parent-child relationship that it has.</a:t>
            </a:r>
            <a:endParaRPr/>
          </a:p>
        </p:txBody>
      </p:sp>
      <p:pic>
        <p:nvPicPr>
          <p:cNvPr id="174" name="Google Shape;174;g16a2b111ac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451" y="1940774"/>
            <a:ext cx="6529101" cy="41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561646" y="605150"/>
            <a:ext cx="2943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80" name="Google Shape;180;p29"/>
          <p:cNvSpPr/>
          <p:nvPr/>
        </p:nvSpPr>
        <p:spPr>
          <a:xfrm>
            <a:off x="1085850" y="1400175"/>
            <a:ext cx="7620000" cy="3562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8943975" y="1400175"/>
            <a:ext cx="2943225" cy="36385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2022-10-26T12:16:15Z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2021-10-02T00:00:00Z</vt:filetime>
  </property>
  <property fmtid="{D5CDD505-2E9C-101B-9397-08002B2CF9AE}" pid="3" name="LastSaved">
    <vt:filetime>2022-10-26T00:00:00Z</vt:filetime>
  </property>
</Properties>
</file>